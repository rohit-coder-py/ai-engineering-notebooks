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embeddedFontLst>
    <p:embeddedFont>
      <p:font typeface="DM Serif Display"/>
      <p:regular r:id="rId201314"/>
    </p:embeddedFont>
    <p:embeddedFont>
      <p:font typeface="Rethink Sans SemiBold"/>
      <p:regular r:id="rId201315"/>
    </p:embeddedFont>
    <p:embeddedFont>
      <p:font typeface="Rethink Sans Bold"/>
      <p:regular r:id="rId201316"/>
    </p:embeddedFont>
    <p:embeddedFont>
      <p:font typeface="Rethink Sans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EED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2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EED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4A16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jpe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image" Target="../media/image-4-3.jpe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783" y="939800"/>
            <a:ext cx="5968851" cy="2275185"/>
          </a:xfrm>
          <a:prstGeom prst="roundRect">
            <a:avLst>
              <a:gd name="adj" fmla="val 4019"/>
            </a:avLst>
          </a:prstGeom>
          <a:solidFill>
            <a:srgbClr val="4A1650"/>
          </a:solidFill>
          <a:ln/>
        </p:spPr>
      </p:sp>
      <p:sp>
        <p:nvSpPr>
          <p:cNvPr id="3" name="Text 1"/>
          <p:cNvSpPr/>
          <p:nvPr/>
        </p:nvSpPr>
        <p:spPr>
          <a:xfrm>
            <a:off x="838179" y="1071118"/>
            <a:ext cx="6273643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spc="60" kern="100" dirty="0">
                <a:solidFill>
                  <a:srgbClr val="FFFFFF"/>
                </a:solidFill>
                <a:latin typeface="Rethink Sans SemiBold" pitchFamily="34" charset="0"/>
                <a:ea typeface="Rethink Sans SemiBold" pitchFamily="34" charset="-122"/>
                <a:cs typeface="Rethink Sans SemiBold" pitchFamily="34" charset="-120"/>
              </a:rPr>
              <a:t>AGRICULTURAL KNOWLEDGE, MADE CONVERSATIONAL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38179" y="1432024"/>
            <a:ext cx="5664058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7200" spc="-180" kern="100" dirty="0">
                <a:solidFill>
                  <a:srgbClr val="FFFFFF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KrishiMitra AI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838179" y="2490061"/>
            <a:ext cx="5664058" cy="603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A conversational companion for finding, understanding, and using agricultural knowledge.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783" y="5461000"/>
            <a:ext cx="4190895" cy="571897"/>
          </a:xfrm>
          <a:prstGeom prst="roundRect">
            <a:avLst>
              <a:gd name="adj" fmla="val 15988"/>
            </a:avLst>
          </a:prstGeom>
          <a:solidFill>
            <a:srgbClr val="4A1650"/>
          </a:solidFill>
          <a:ln/>
        </p:spPr>
      </p:sp>
      <p:sp>
        <p:nvSpPr>
          <p:cNvPr id="7" name="Text 5"/>
          <p:cNvSpPr/>
          <p:nvPr/>
        </p:nvSpPr>
        <p:spPr>
          <a:xfrm>
            <a:off x="812780" y="5564124"/>
            <a:ext cx="3936902" cy="368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From practical crop guidance to supported agricultural schemes.</a:t>
            </a:r>
            <a:endParaRPr lang="en-US" sz="1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1790" y="762000"/>
            <a:ext cx="3174921" cy="203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111822" cy="6858000"/>
          </a:xfrm>
          <a:prstGeom prst="rect">
            <a:avLst/>
          </a:prstGeom>
          <a:solidFill>
            <a:srgbClr val="EED6F5"/>
          </a:solidFill>
          <a:ln/>
        </p:spPr>
      </p:sp>
      <p:sp>
        <p:nvSpPr>
          <p:cNvPr id="3" name="Text 1"/>
          <p:cNvSpPr/>
          <p:nvPr/>
        </p:nvSpPr>
        <p:spPr>
          <a:xfrm>
            <a:off x="584185" y="537718"/>
            <a:ext cx="6527637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spc="60" kern="100" dirty="0">
                <a:solidFill>
                  <a:srgbClr val="000000"/>
                </a:solidFill>
                <a:latin typeface="Rethink Sans SemiBold" pitchFamily="34" charset="0"/>
                <a:ea typeface="Rethink Sans SemiBold" pitchFamily="34" charset="-122"/>
                <a:cs typeface="Rethink Sans SemiBold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84185" y="846110"/>
            <a:ext cx="6095848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68" kern="100" dirty="0">
                <a:solidFill>
                  <a:srgbClr val="000000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Every farming question deserves a clearer path to an answer</a:t>
            </a:r>
            <a:endParaRPr lang="en-US" sz="3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185" y="4346928"/>
            <a:ext cx="304792" cy="30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15975" y="4283472"/>
            <a:ext cx="5664058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Crop cultivation, soil health, irrigation, pests, diseases, and schemes all demand practical decisions.</a:t>
            </a:r>
            <a:endParaRPr lang="en-US" sz="17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185" y="5095037"/>
            <a:ext cx="304792" cy="3048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15975" y="5031581"/>
            <a:ext cx="5664058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Useful information is often scattered across documents, websites, research papers, and official resources.</a:t>
            </a:r>
            <a:endParaRPr lang="en-US" sz="17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185" y="5843147"/>
            <a:ext cx="304792" cy="3048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15975" y="5779691"/>
            <a:ext cx="5664058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KrishiMitra AI brings supported knowledge sources into one conversational place.</a:t>
            </a:r>
            <a:endParaRPr lang="en-US" sz="17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1822" y="0"/>
            <a:ext cx="507987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89378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00560" y="486918"/>
            <a:ext cx="6591135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spc="60" kern="100" dirty="0">
                <a:solidFill>
                  <a:srgbClr val="17652F"/>
                </a:solidFill>
                <a:latin typeface="Rethink Sans SemiBold" pitchFamily="34" charset="0"/>
                <a:ea typeface="Rethink Sans SemiBold" pitchFamily="34" charset="-122"/>
                <a:cs typeface="Rethink Sans SemiBold" pitchFamily="34" charset="-120"/>
              </a:rPr>
              <a:t>THE EXPERIENCE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600560" y="795310"/>
            <a:ext cx="6006950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68" kern="100" dirty="0">
                <a:solidFill>
                  <a:srgbClr val="2A1030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Ask in everyday language. Explore the answer together.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5600560" y="1926729"/>
            <a:ext cx="6006950" cy="893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A1030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KrishiMitra AI is designed for farmers and people interested in agriculture who want useful information without manually searching every source.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5600560" y="2972693"/>
            <a:ext cx="863082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4A1650"/>
                </a:solidFill>
                <a:latin typeface="Rethink Sans SemiBold" pitchFamily="34" charset="0"/>
                <a:ea typeface="Rethink Sans SemiBold" pitchFamily="34" charset="-122"/>
                <a:cs typeface="Rethink Sans SemiBold" pitchFamily="34" charset="-120"/>
              </a:rPr>
              <a:t>01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600560" y="3323598"/>
            <a:ext cx="1799089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2A1030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Ask a question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704441" y="2972693"/>
            <a:ext cx="863082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4A1650"/>
                </a:solidFill>
                <a:latin typeface="Rethink Sans SemiBold" pitchFamily="34" charset="0"/>
                <a:ea typeface="Rethink Sans SemiBold" pitchFamily="34" charset="-122"/>
                <a:cs typeface="Rethink Sans SemiBold" pitchFamily="34" charset="-120"/>
              </a:rPr>
              <a:t>02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704441" y="3323598"/>
            <a:ext cx="1799089" cy="603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2A1030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Get a clear explanation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808322" y="2972693"/>
            <a:ext cx="863082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4A1650"/>
                </a:solidFill>
                <a:latin typeface="Rethink Sans SemiBold" pitchFamily="34" charset="0"/>
                <a:ea typeface="Rethink Sans SemiBold" pitchFamily="34" charset="-122"/>
                <a:cs typeface="Rethink Sans SemiBold" pitchFamily="34" charset="-120"/>
              </a:rPr>
              <a:t>03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9808322" y="3323598"/>
            <a:ext cx="1799188" cy="9051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2A1030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Ask follow-ups until the topic makes sense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410718"/>
            <a:ext cx="11658308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spc="60" kern="100" dirty="0">
                <a:solidFill>
                  <a:srgbClr val="17652F"/>
                </a:solidFill>
                <a:latin typeface="Rethink Sans SemiBold" pitchFamily="34" charset="0"/>
                <a:ea typeface="Rethink Sans SemiBold" pitchFamily="34" charset="-122"/>
                <a:cs typeface="Rethink Sans SemiBold" pitchFamily="34" charset="-120"/>
              </a:rPr>
              <a:t>PRACTICAL COVERAGE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3387" y="719110"/>
            <a:ext cx="11124922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68" kern="100" dirty="0">
                <a:solidFill>
                  <a:srgbClr val="2A1030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From crop guidance to agricultural schemes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33387" y="1392833"/>
            <a:ext cx="11658308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A1030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Start with the question in front of you. Move toward the source and explanation that help you act.</a:t>
            </a:r>
            <a:endParaRPr lang="en-US" sz="1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575" y="2435622"/>
            <a:ext cx="2590735" cy="146804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90575" y="4344162"/>
            <a:ext cx="2590735" cy="603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2A1030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Understand farming topics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90575" y="5126236"/>
            <a:ext cx="2590735" cy="893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A1030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Explore cultivation practices and the questions behind them.</a:t>
            </a:r>
            <a:endParaRPr lang="en-US" sz="17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480" y="2435622"/>
            <a:ext cx="2590735" cy="176976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800480" y="4645886"/>
            <a:ext cx="2590735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2A1030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Explore crop conditions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4800480" y="5126236"/>
            <a:ext cx="2590735" cy="893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A1030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Bring crop, soil, and irrigation information into the conversation.</a:t>
            </a:r>
            <a:endParaRPr lang="en-US" sz="17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385" y="2435622"/>
            <a:ext cx="2590735" cy="146804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610385" y="4344162"/>
            <a:ext cx="2590735" cy="603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2A1030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Find supported resources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8610385" y="5126236"/>
            <a:ext cx="2590735" cy="893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A1030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Learn from available pest, disease, scheme, and agricultural material.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61518"/>
            <a:ext cx="11632909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spc="60" kern="100" dirty="0">
                <a:solidFill>
                  <a:srgbClr val="17652F"/>
                </a:solidFill>
                <a:latin typeface="Rethink Sans SemiBold" pitchFamily="34" charset="0"/>
                <a:ea typeface="Rethink Sans SemiBold" pitchFamily="34" charset="-122"/>
                <a:cs typeface="Rethink Sans SemiBold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58786" y="769910"/>
            <a:ext cx="11074123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68" kern="100" dirty="0">
                <a:solidFill>
                  <a:srgbClr val="2A1030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Behind the conversation is a retrieval engine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58786" y="1443633"/>
            <a:ext cx="11632909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A1030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In simple terms: look first, answer second.</a:t>
            </a:r>
            <a:endParaRPr lang="en-US" sz="1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2816" y="2870299"/>
            <a:ext cx="8245963" cy="35559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529761" y="3275640"/>
            <a:ext cx="4534657" cy="261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spc="-31" kern="100" dirty="0">
                <a:solidFill>
                  <a:srgbClr val="FFFFFF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Add Sources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2529761" y="4100238"/>
            <a:ext cx="4534657" cy="261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spc="-31" kern="100" dirty="0">
                <a:solidFill>
                  <a:srgbClr val="FFFFFF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Extract &amp; Split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2529761" y="4916589"/>
            <a:ext cx="4534657" cy="261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spc="-31" kern="100" dirty="0">
                <a:solidFill>
                  <a:srgbClr val="FFFFFF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Retrieve Context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2529761" y="5732941"/>
            <a:ext cx="4534657" cy="261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spc="-31" kern="100" dirty="0">
                <a:solidFill>
                  <a:srgbClr val="FFFFFF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Generate Answer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73483" cy="6858000"/>
          </a:xfrm>
          <a:prstGeom prst="rect">
            <a:avLst/>
          </a:prstGeom>
          <a:solidFill>
            <a:srgbClr val="4A1650"/>
          </a:solidFill>
          <a:ln/>
        </p:spPr>
      </p:sp>
      <p:sp>
        <p:nvSpPr>
          <p:cNvPr id="3" name="Text 1"/>
          <p:cNvSpPr/>
          <p:nvPr/>
        </p:nvSpPr>
        <p:spPr>
          <a:xfrm>
            <a:off x="558786" y="537718"/>
            <a:ext cx="4114697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spc="60" kern="100" dirty="0">
                <a:solidFill>
                  <a:srgbClr val="FFFFFF"/>
                </a:solidFill>
                <a:latin typeface="Rethink Sans SemiBold" pitchFamily="34" charset="0"/>
                <a:ea typeface="Rethink Sans SemiBold" pitchFamily="34" charset="-122"/>
                <a:cs typeface="Rethink Sans SemiBold" pitchFamily="34" charset="-120"/>
              </a:rPr>
              <a:t>THE KNOWLEDGE LAYER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58786" y="846110"/>
            <a:ext cx="3759106" cy="1373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68" kern="100" dirty="0">
                <a:solidFill>
                  <a:srgbClr val="FFFFFF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One assistant, many possible knowledge sources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58786" y="5183981"/>
            <a:ext cx="3759106" cy="11914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Coverage depends on what is connected and enabled. The assistant grows with the knowledge collection behind it.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02077" y="1514475"/>
            <a:ext cx="6807030" cy="38290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67093" cy="6858000"/>
          </a:xfrm>
          <a:prstGeom prst="rect">
            <a:avLst/>
          </a:prstGeom>
          <a:solidFill>
            <a:srgbClr val="EED6F5"/>
          </a:solidFill>
          <a:ln/>
        </p:spPr>
      </p:sp>
      <p:sp>
        <p:nvSpPr>
          <p:cNvPr id="3" name="Text 1"/>
          <p:cNvSpPr/>
          <p:nvPr/>
        </p:nvSpPr>
        <p:spPr>
          <a:xfrm>
            <a:off x="558786" y="537718"/>
            <a:ext cx="3708307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spc="60" kern="100" dirty="0">
                <a:solidFill>
                  <a:srgbClr val="000000"/>
                </a:solidFill>
                <a:latin typeface="Rethink Sans SemiBold" pitchFamily="34" charset="0"/>
                <a:ea typeface="Rethink Sans SemiBold" pitchFamily="34" charset="-122"/>
                <a:cs typeface="Rethink Sans SemiBold" pitchFamily="34" charset="-120"/>
              </a:rPr>
              <a:t>ASK BETTER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58786" y="846110"/>
            <a:ext cx="3352716" cy="1373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68" kern="100" dirty="0">
                <a:solidFill>
                  <a:srgbClr val="000000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Better questions create better starting points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58786" y="5481836"/>
            <a:ext cx="3352716" cy="893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Specific context helps the system find a more useful place to begin.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698882" y="622300"/>
            <a:ext cx="386844" cy="386854"/>
          </a:xfrm>
          <a:prstGeom prst="ellipse">
            <a:avLst/>
          </a:prstGeom>
          <a:solidFill>
            <a:srgbClr val="17652F"/>
          </a:solidFill>
          <a:ln w="12700">
            <a:solidFill>
              <a:srgbClr val="C8A7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65556" y="707727"/>
            <a:ext cx="863082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Rethink Sans SemiBold" pitchFamily="34" charset="0"/>
                <a:ea typeface="Rethink Sans SemiBold" pitchFamily="34" charset="-122"/>
                <a:cs typeface="Rethink Sans SemiBold" pitchFamily="34" charset="-120"/>
              </a:rPr>
              <a:t>01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238123" y="662452"/>
            <a:ext cx="6369387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2A1030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Name the crop, topic, or problem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698882" y="1760736"/>
            <a:ext cx="386844" cy="386854"/>
          </a:xfrm>
          <a:prstGeom prst="ellipse">
            <a:avLst/>
          </a:prstGeom>
          <a:solidFill>
            <a:srgbClr val="17652F"/>
          </a:solidFill>
          <a:ln w="12700">
            <a:solidFill>
              <a:srgbClr val="C8A7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65556" y="1846163"/>
            <a:ext cx="863082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Rethink Sans SemiBold" pitchFamily="34" charset="0"/>
                <a:ea typeface="Rethink Sans SemiBold" pitchFamily="34" charset="-122"/>
                <a:cs typeface="Rethink Sans SemiBold" pitchFamily="34" charset="-120"/>
              </a:rPr>
              <a:t>02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238123" y="1800888"/>
            <a:ext cx="6369387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2A1030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Add region, crop stage, soil conditions, or symptoms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698882" y="2899172"/>
            <a:ext cx="386844" cy="386854"/>
          </a:xfrm>
          <a:prstGeom prst="ellipse">
            <a:avLst/>
          </a:prstGeom>
          <a:solidFill>
            <a:srgbClr val="17652F"/>
          </a:solidFill>
          <a:ln w="12700">
            <a:solidFill>
              <a:srgbClr val="C8A7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65556" y="2984599"/>
            <a:ext cx="863082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Rethink Sans SemiBold" pitchFamily="34" charset="0"/>
                <a:ea typeface="Rethink Sans SemiBold" pitchFamily="34" charset="-122"/>
                <a:cs typeface="Rethink Sans SemiBold" pitchFamily="34" charset="-120"/>
              </a:rPr>
              <a:t>03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238123" y="2939324"/>
            <a:ext cx="6369387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2A1030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Ask one thing at a time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698882" y="4037608"/>
            <a:ext cx="386844" cy="386854"/>
          </a:xfrm>
          <a:prstGeom prst="ellipse">
            <a:avLst/>
          </a:prstGeom>
          <a:solidFill>
            <a:srgbClr val="17652F"/>
          </a:solidFill>
          <a:ln w="12700">
            <a:solidFill>
              <a:srgbClr val="C8A7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65556" y="4123035"/>
            <a:ext cx="863082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Rethink Sans SemiBold" pitchFamily="34" charset="0"/>
                <a:ea typeface="Rethink Sans SemiBold" pitchFamily="34" charset="-122"/>
                <a:cs typeface="Rethink Sans SemiBold" pitchFamily="34" charset="-120"/>
              </a:rPr>
              <a:t>04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238123" y="4077760"/>
            <a:ext cx="6369387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2A1030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Request a simpler explanation when needed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698882" y="5176143"/>
            <a:ext cx="386844" cy="386854"/>
          </a:xfrm>
          <a:prstGeom prst="ellipse">
            <a:avLst/>
          </a:prstGeom>
          <a:solidFill>
            <a:srgbClr val="17652F"/>
          </a:solidFill>
          <a:ln w="12700">
            <a:solidFill>
              <a:srgbClr val="C8A7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65556" y="5261570"/>
            <a:ext cx="863082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Rethink Sans SemiBold" pitchFamily="34" charset="0"/>
                <a:ea typeface="Rethink Sans SemiBold" pitchFamily="34" charset="-122"/>
                <a:cs typeface="Rethink Sans SemiBold" pitchFamily="34" charset="-120"/>
              </a:rPr>
              <a:t>05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238123" y="5216295"/>
            <a:ext cx="6369387" cy="603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2A1030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Check the original source and its date when references are provided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698882" y="1614686"/>
            <a:ext cx="6908627" cy="12700"/>
          </a:xfrm>
          <a:prstGeom prst="rect">
            <a:avLst/>
          </a:prstGeom>
          <a:solidFill>
            <a:srgbClr val="D5B8DE"/>
          </a:solidFill>
          <a:ln/>
        </p:spPr>
      </p:sp>
      <p:sp>
        <p:nvSpPr>
          <p:cNvPr id="22" name="Shape 20"/>
          <p:cNvSpPr/>
          <p:nvPr/>
        </p:nvSpPr>
        <p:spPr>
          <a:xfrm>
            <a:off x="4698882" y="2753122"/>
            <a:ext cx="6908627" cy="12700"/>
          </a:xfrm>
          <a:prstGeom prst="rect">
            <a:avLst/>
          </a:prstGeom>
          <a:solidFill>
            <a:srgbClr val="D5B8DE"/>
          </a:solidFill>
          <a:ln/>
        </p:spPr>
      </p:sp>
      <p:sp>
        <p:nvSpPr>
          <p:cNvPr id="23" name="Shape 21"/>
          <p:cNvSpPr/>
          <p:nvPr/>
        </p:nvSpPr>
        <p:spPr>
          <a:xfrm>
            <a:off x="4698882" y="3891558"/>
            <a:ext cx="6908627" cy="12700"/>
          </a:xfrm>
          <a:prstGeom prst="rect">
            <a:avLst/>
          </a:prstGeom>
          <a:solidFill>
            <a:srgbClr val="D5B8DE"/>
          </a:solidFill>
          <a:ln/>
        </p:spPr>
      </p:sp>
      <p:sp>
        <p:nvSpPr>
          <p:cNvPr id="24" name="Shape 22"/>
          <p:cNvSpPr/>
          <p:nvPr/>
        </p:nvSpPr>
        <p:spPr>
          <a:xfrm>
            <a:off x="4698882" y="5030093"/>
            <a:ext cx="6908627" cy="12700"/>
          </a:xfrm>
          <a:prstGeom prst="rect">
            <a:avLst/>
          </a:prstGeom>
          <a:solidFill>
            <a:srgbClr val="D5B8DE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37718"/>
            <a:ext cx="11582110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spc="60" kern="100" dirty="0">
                <a:solidFill>
                  <a:srgbClr val="FFFFFF"/>
                </a:solidFill>
                <a:latin typeface="Rethink Sans SemiBold" pitchFamily="34" charset="0"/>
                <a:ea typeface="Rethink Sans SemiBold" pitchFamily="34" charset="-122"/>
                <a:cs typeface="Rethink Sans SemiBold" pitchFamily="34" charset="-120"/>
              </a:rPr>
              <a:t>USE WITH JUDGMENT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46110"/>
            <a:ext cx="10972526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68" kern="100" dirty="0">
                <a:solidFill>
                  <a:srgbClr val="FFFFFF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Useful does not mean infallible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9585" y="1519833"/>
            <a:ext cx="10972526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AI can make mistakes, and the knowledge available to it may be incomplete or outdated. Use answers to explore—not replace current sources, local context, or professional judgment.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09585" y="2344142"/>
            <a:ext cx="5333867" cy="1538784"/>
          </a:xfrm>
          <a:prstGeom prst="roundRect">
            <a:avLst>
              <a:gd name="adj" fmla="val 5893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863578" y="2578267"/>
            <a:ext cx="4825879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2A1030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Check what can change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3578" y="3058616"/>
            <a:ext cx="4825879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A1030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Weather, market prices, and current scheme details need up-to-date sources.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48244" y="2344142"/>
            <a:ext cx="5333867" cy="1538784"/>
          </a:xfrm>
          <a:prstGeom prst="roundRect">
            <a:avLst>
              <a:gd name="adj" fmla="val 5893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502237" y="2578267"/>
            <a:ext cx="4825879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2A1030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Check what depends on place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02237" y="3058616"/>
            <a:ext cx="4825879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A1030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Recommendations can vary by region, season, soil, climate, and crop variety.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09585" y="4187726"/>
            <a:ext cx="5333867" cy="1538784"/>
          </a:xfrm>
          <a:prstGeom prst="roundRect">
            <a:avLst>
              <a:gd name="adj" fmla="val 5893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863578" y="4421850"/>
            <a:ext cx="4825879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2A1030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Verify high-impact decisions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63578" y="4902200"/>
            <a:ext cx="4825879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A1030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Verify high-impact decisions with official guidance or a qualified agricultural professional.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248244" y="4187726"/>
            <a:ext cx="5333867" cy="1538784"/>
          </a:xfrm>
          <a:prstGeom prst="rect">
            <a:avLst/>
          </a:prstGeom>
          <a:solidFill>
            <a:srgbClr val="F2643A"/>
          </a:solidFill>
          <a:ln/>
        </p:spPr>
      </p:sp>
      <p:sp>
        <p:nvSpPr>
          <p:cNvPr id="15" name="Text 13"/>
          <p:cNvSpPr/>
          <p:nvPr/>
        </p:nvSpPr>
        <p:spPr>
          <a:xfrm>
            <a:off x="6502237" y="4420644"/>
            <a:ext cx="5079873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spc="60" kern="100" dirty="0">
                <a:solidFill>
                  <a:srgbClr val="2A1030"/>
                </a:solidFill>
                <a:latin typeface="Rethink Sans SemiBold" pitchFamily="34" charset="0"/>
                <a:ea typeface="Rethink Sans SemiBold" pitchFamily="34" charset="-122"/>
                <a:cs typeface="Rethink Sans SemiBold" pitchFamily="34" charset="-120"/>
              </a:rPr>
              <a:t>THE PRINCIPLE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02237" y="4696587"/>
            <a:ext cx="4825879" cy="603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2A1030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Use the answer as a starting point, then verify the decision.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908627" cy="6858000"/>
          </a:xfrm>
          <a:prstGeom prst="rect">
            <a:avLst/>
          </a:prstGeom>
          <a:solidFill>
            <a:srgbClr val="4A1650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563118"/>
            <a:ext cx="6299042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spc="60" kern="100" dirty="0">
                <a:solidFill>
                  <a:srgbClr val="FFFFFF"/>
                </a:solidFill>
                <a:latin typeface="Rethink Sans SemiBold" pitchFamily="34" charset="0"/>
                <a:ea typeface="Rethink Sans SemiBold" pitchFamily="34" charset="-122"/>
                <a:cs typeface="Rethink Sans SemiBold" pitchFamily="34" charset="-120"/>
              </a:rPr>
              <a:t>THE VISION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09585" y="880717"/>
            <a:ext cx="5816454" cy="1776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400" spc="-88" kern="100" dirty="0">
                <a:solidFill>
                  <a:srgbClr val="FFFFFF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Make agricultural knowledge easier to explore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09585" y="2864247"/>
            <a:ext cx="5816454" cy="893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KrishiMitra AI combines document retrieval with AI-generated explanations so users can move from scattered information to a more useful conversation.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09585" y="5728891"/>
            <a:ext cx="5816454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As trusted sources and integrations grow, the assistant can grow with them.</a:t>
            </a:r>
            <a:endParaRPr lang="en-US" sz="17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8627" y="0"/>
            <a:ext cx="5283068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2026-10-21T06:48:20Z</dcterms:created>
  <dcterms:modified xsi:type="dcterms:W3CDTF">2026-10-21T06:48:20Z</dcterms:modified>
</cp:coreProperties>
</file>